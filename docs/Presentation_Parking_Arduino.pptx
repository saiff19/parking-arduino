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365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498080" y="274320"/>
            <a:ext cx="128016" cy="128016"/>
          </a:xfrm>
          <a:prstGeom prst="ellipse">
            <a:avLst/>
          </a:prstGeom>
          <a:solidFill>
            <a:srgbClr val="00A8CC">
              <a:alpha val="4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818120" y="274320"/>
            <a:ext cx="128016" cy="128016"/>
          </a:xfrm>
          <a:prstGeom prst="ellipse">
            <a:avLst/>
          </a:prstGeom>
          <a:solidFill>
            <a:srgbClr val="00A8CC">
              <a:alpha val="32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138160" y="274320"/>
            <a:ext cx="128016" cy="128016"/>
          </a:xfrm>
          <a:prstGeom prst="ellipse">
            <a:avLst/>
          </a:prstGeom>
          <a:solidFill>
            <a:srgbClr val="00A8CC">
              <a:alpha val="24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458200" y="274320"/>
            <a:ext cx="128016" cy="128016"/>
          </a:xfrm>
          <a:prstGeom prst="ellipse">
            <a:avLst/>
          </a:prstGeom>
          <a:solidFill>
            <a:srgbClr val="00A8CC">
              <a:alpha val="16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778240" y="274320"/>
            <a:ext cx="128016" cy="128016"/>
          </a:xfrm>
          <a:prstGeom prst="ellipse">
            <a:avLst/>
          </a:prstGeom>
          <a:solidFill>
            <a:srgbClr val="00A8CC">
              <a:alpha val="8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822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GESTION INTELLIGENTE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200" dirty="0">
                <a:solidFill>
                  <a:srgbClr val="00A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D'UN PARKING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embarqué Arduino UNO · Informatique Industrielle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697480"/>
            <a:ext cx="2194560" cy="34747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PROJET INNOVANT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91840"/>
            <a:ext cx="2011680" cy="1371600"/>
          </a:xfrm>
          <a:prstGeom prst="rect">
            <a:avLst/>
          </a:prstGeom>
          <a:solidFill>
            <a:srgbClr val="1E3A6E"/>
          </a:solidFill>
          <a:ln w="1270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6393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2AP G4 · G41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87752" y="3291840"/>
            <a:ext cx="2011680" cy="1371600"/>
          </a:xfrm>
          <a:prstGeom prst="rect">
            <a:avLst/>
          </a:prstGeom>
          <a:solidFill>
            <a:srgbClr val="1E3A6E"/>
          </a:solidFill>
          <a:ln w="1270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679192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9192" y="36393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Saifalislam Moubarrad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64024" y="3291840"/>
            <a:ext cx="2011680" cy="1371600"/>
          </a:xfrm>
          <a:prstGeom prst="rect">
            <a:avLst/>
          </a:prstGeom>
          <a:solidFill>
            <a:srgbClr val="1E3A6E"/>
          </a:solidFill>
          <a:ln w="1270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55464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55464" y="36393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Mohamed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0296" y="3291840"/>
            <a:ext cx="2011680" cy="1371600"/>
          </a:xfrm>
          <a:prstGeom prst="rect">
            <a:avLst/>
          </a:prstGeom>
          <a:solidFill>
            <a:srgbClr val="1E3A6E"/>
          </a:solidFill>
          <a:ln w="1270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031736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31736" y="36393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498080" y="1005840"/>
            <a:ext cx="1371600" cy="1371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1480" y="48463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EMSI Casablanca  | 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02920" cy="80467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502920" cy="80467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capteur HC-SR04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502920" cy="80467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971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 apportées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5029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9319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93192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composants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00600" y="1051560"/>
            <a:ext cx="50292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00600" y="105156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105156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programme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20116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00600" y="2011680"/>
            <a:ext cx="502920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00600" y="20116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94960" y="201168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tests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297180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800600" y="2971800"/>
            <a:ext cx="502920" cy="8046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00600" y="2971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94960" y="297180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00600" y="393192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800600" y="3931920"/>
            <a:ext cx="50292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00600" y="39319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394960" y="393192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–  Présentation du projet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0" cy="3749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9DF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villes modernes, la gestion des parkings est un défi quotidien. Notre projet propose un système embarqué complet sur Arduino UNO pour automatiser entièrement la gestion d'accès à un parking de 5 places.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le système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les véhicules à l'entrée et à la sortie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Ouvre/ferme les barrières automatiquement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les places disponibles sur LCD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l'affichage au mode jour / nuit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sonore et visuelle selon l'état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051560"/>
            <a:ext cx="1554480" cy="16916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57784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7784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max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1051560"/>
            <a:ext cx="1554480" cy="169164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31520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cm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0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détection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2971800"/>
            <a:ext cx="1554480" cy="16916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57784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HC-SR04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choisi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2971800"/>
            <a:ext cx="1554480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31520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Tinkercad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0" y="4069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simul.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complète validée sur Tinkercad Circuits avant tout déploiement physique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–  Choix du capteur HC-SR04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</a:t>
            </a:r>
            <a:r>
              <a:rPr lang="en-US" sz="13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pourquoi nous avons sélectionné le HC-SR04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3931920" cy="960120"/>
          </a:xfrm>
          <a:prstGeom prst="rect">
            <a:avLst/>
          </a:prstGeom>
          <a:solidFill>
            <a:srgbClr val="0F2340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ultrasonique 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90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(cm) = durée_écho (µs) × 0.034 /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143000"/>
            <a:ext cx="4480560" cy="960120"/>
          </a:xfrm>
          <a:prstGeom prst="rect">
            <a:avLst/>
          </a:prstGeom>
          <a:solidFill>
            <a:srgbClr val="0F2340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0" y="1207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: 2 cm → 400 cm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: ±3 mm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6276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: 40 kHz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8379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: 5V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pas un autre capteur 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8595360" cy="502920"/>
          </a:xfrm>
          <a:prstGeom prst="rect">
            <a:avLst/>
          </a:prstGeom>
          <a:solidFill>
            <a:srgbClr val="0F2B1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2743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85800" y="2697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 ✦ Notre choix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26974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D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Non-contact, précis, 2–400 cm, insensible lumière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64408"/>
            <a:ext cx="8595360" cy="502920"/>
          </a:xfrm>
          <a:prstGeom prst="rect">
            <a:avLst/>
          </a:prstGeom>
          <a:solidFill>
            <a:srgbClr val="0F2340"/>
          </a:solidFill>
          <a:ln w="12700">
            <a:solidFill>
              <a:srgbClr val="33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3264408"/>
            <a:ext cx="2743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85800" y="3264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IR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69080" y="32644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Perturbé par lumière ambiante et surfaces brillantes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31336"/>
            <a:ext cx="8595360" cy="502920"/>
          </a:xfrm>
          <a:prstGeom prst="rect">
            <a:avLst/>
          </a:prstGeom>
          <a:solidFill>
            <a:srgbClr val="0F2340"/>
          </a:solidFill>
          <a:ln w="12700">
            <a:solidFill>
              <a:srgbClr val="33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3831336"/>
            <a:ext cx="2743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85800" y="38313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de contact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69080" y="38313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Usure mécanique, incompatible véhicule en mouvement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398264"/>
            <a:ext cx="8595360" cy="502920"/>
          </a:xfrm>
          <a:prstGeom prst="rect">
            <a:avLst/>
          </a:prstGeom>
          <a:solidFill>
            <a:srgbClr val="0F2340"/>
          </a:solidFill>
          <a:ln w="12700">
            <a:solidFill>
              <a:srgbClr val="33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4398264"/>
            <a:ext cx="2743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5800" y="43982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Potentiomètre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69080" y="43982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contact physique, inutilisable ici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–  Innovations apportées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441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Jour / Nuit avec hysteresis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78308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distincts 350/450 + délai 3s anti-oscillation. LCD éteint la nuit pour économiser l'énergie.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54680" y="100584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154680" y="1005840"/>
            <a:ext cx="269748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3441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Signalisation sonore à 3 niveaux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46120" y="178308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 court (accès), bip long (refus), double bip montant (reset). Chaque son porte une information.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00584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035040" y="1005840"/>
            <a:ext cx="26974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34416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Anti-rebond logiciel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26480" y="178308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booléens occupeEntree/occupeSortie : une seule action par passage, aucun double comptage.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645920" y="30175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1645920" y="3017520"/>
            <a:ext cx="2743200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336499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48840" y="33375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Lissage des mesures LDR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737360" y="381304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 8 lectures espacées de 5ms. Technique de filtrage numérique industriel.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46320" y="30175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846320" y="3017520"/>
            <a:ext cx="2743200" cy="2926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36499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33375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LCD contextuels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937760" y="381304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Bienvenue, Au revoir, PLEIN, RESET OK — chaque situation a son message personnalisé.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–  Architecture &amp; composants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029200" cy="2624328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3657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simulé sur Tinkercad Circuits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577840" y="1005840"/>
            <a:ext cx="32918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577840" y="1005840"/>
            <a:ext cx="201168" cy="43891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852160" y="10058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1005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ATmega328P · 16 MHz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1517904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577840" y="1517904"/>
            <a:ext cx="201168" cy="43891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852160" y="151790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×2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151790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Ultrasons entrée+sortie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2029968"/>
            <a:ext cx="32918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577840" y="2029968"/>
            <a:ext cx="201168" cy="43891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852160" y="20299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Servomoteur ×2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89520" y="202996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· 0° → 90°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2542032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5577840" y="2542032"/>
            <a:ext cx="201168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852160" y="254203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16×2 I2C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254203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0x27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77840" y="3054096"/>
            <a:ext cx="32918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5577840" y="3054096"/>
            <a:ext cx="201168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5852160" y="305409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Rouge + Verte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589520" y="305409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Broche 2 et 12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77840" y="356616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5577840" y="3566160"/>
            <a:ext cx="201168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5852160" y="35661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actif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589520" y="356616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Broche 6 (PWM)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77840" y="4078224"/>
            <a:ext cx="329184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5577840" y="4078224"/>
            <a:ext cx="201168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5852160" y="407822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Photorésistance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589520" y="407822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Broche A0 analogique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577840" y="4590288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577840" y="4590288"/>
            <a:ext cx="201168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5852160" y="45902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RESET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589520" y="459028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Broche 10 INPUT_PULLUP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–  Organisation du programme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828800" cy="594360"/>
          </a:xfrm>
          <a:prstGeom prst="rect">
            <a:avLst/>
          </a:prstGeom>
          <a:solidFill>
            <a:srgbClr val="1A56A0"/>
          </a:solidFill>
          <a:ln w="254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03120" y="1161288"/>
            <a:ext cx="457200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560320" y="868680"/>
            <a:ext cx="1828800" cy="594360"/>
          </a:xfrm>
          <a:prstGeom prst="rect">
            <a:avLst/>
          </a:prstGeom>
          <a:solidFill>
            <a:srgbClr val="9333EA"/>
          </a:solidFill>
          <a:ln w="254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560320" y="868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init pins &amp; servos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init LCD I2C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message démarrage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395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détecte mode init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lecture capteurs 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gestion entrée veh.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gestion sortie veh.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395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bouton RESET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détect. jour/nuit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auxiliaires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261872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46320" y="12618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lireLuminosite()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261872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949440" y="12618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detecterNuit(bool)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920240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0" y="19202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mesureDistance()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1920240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949440" y="19202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ouvrirEntree()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578608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257860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ouvrirSortie()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2578608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949440" y="257860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bipCourt()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236976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46320" y="32369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bipLong()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236976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949440" y="32369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bipReset()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895344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846320" y="389534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appliquerMode()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3895344"/>
            <a:ext cx="1920240" cy="530352"/>
          </a:xfrm>
          <a:prstGeom prst="rect">
            <a:avLst/>
          </a:prstGeom>
          <a:solidFill>
            <a:srgbClr val="0F234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949440" y="389534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mettreAJourEtat()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462272"/>
            <a:ext cx="859536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3344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57200" y="44622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globales :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94560" y="44622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nbVoitures (int)  ·  occupeEntree / occupeSortie (bool)  ·  modeNuit (bool)  ·  dernierChangement (unsigned long)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–  Démonstration &amp; tests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286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" y="1042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de 5 véhicules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0→5, barrière ouvre, bip court ×5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41148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2286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1993392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" y="2029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entrée parking plein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23865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 long, LED rouge, message PLEIN, barrière fermée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41148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2980944"/>
            <a:ext cx="2286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2980944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d'un véhicule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3374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5→4, barrière sortie ouvre, MAJ LCD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68496"/>
            <a:ext cx="41148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3968496"/>
            <a:ext cx="2286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74320" y="3968496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" y="4005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RESET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" y="4361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→ 0, double bip, message RESET 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1148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2286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09160" y="1005840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10912" y="1042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Obscurité (LDR couvert 3s)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10912" y="13990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éteint automatiquement (mode nuit)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993392"/>
            <a:ext cx="41148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09160" y="1993392"/>
            <a:ext cx="2286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09160" y="1993392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10912" y="2029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lumière (LDR découvert)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10912" y="23865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rallumé, seuil 450 respecté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980944"/>
            <a:ext cx="41148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709160" y="2980944"/>
            <a:ext cx="2286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709160" y="2980944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10912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répété devant capteur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3374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double comptage (flag anti-rebond actif)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968496"/>
            <a:ext cx="411480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709160" y="3968496"/>
            <a:ext cx="2286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09160" y="3968496"/>
            <a:ext cx="228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10912" y="4005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vide → sortie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10912" y="4361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nbVoitures reste à 0 (protection if&gt;0)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–  Difficultés rencontrées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1480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Double comptage des véhicules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Flags booléens occupeEntree/Sortie → action uniquement au front montant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09160" y="1024128"/>
            <a:ext cx="4114800" cy="2926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00600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Oscillations du mode jour/nuit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Hysteresis : deux seuils distincts (350/450) + délai minimum 3s entre changements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36829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2368296"/>
            <a:ext cx="4114800" cy="2926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368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Fluctuations des lectures LDR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157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Moyenne de 8 lectures espacées de 5ms (filtrage numérique)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36829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09160" y="2368296"/>
            <a:ext cx="41148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00600" y="2368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Conflit Servo &amp; tone() sur PWM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7157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Réorganisation du brochage pour éviter les broches partagées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712464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3712464"/>
            <a:ext cx="41148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3712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Gestion du temps non bloquante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05993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millis() au lieu de delay() pour le chronomètre — programme reste réactif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712464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09160" y="3712464"/>
            <a:ext cx="4114800" cy="2926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00600" y="3712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Affichage LCD limité (16 chars)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05993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Formatage précis avec espaces, messages taillés pour chaque cas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–  Conclusion &amp; perspectives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697480" cy="1325880"/>
          </a:xfrm>
          <a:prstGeom prst="rect">
            <a:avLst/>
          </a:prstGeom>
          <a:solidFill>
            <a:srgbClr val="0F2340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974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Fonctionnel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scénarios de test validés sur Tinkercad — 8/8 tests réussis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868680"/>
            <a:ext cx="2697480" cy="1325880"/>
          </a:xfrm>
          <a:prstGeom prst="rect">
            <a:avLst/>
          </a:prstGeom>
          <a:solidFill>
            <a:srgbClr val="0F2340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2697480" cy="34747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154680" y="868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Innovant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298448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fonctionnalités au-delà du cahier des charges de 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868680"/>
            <a:ext cx="2697480" cy="1325880"/>
          </a:xfrm>
          <a:prstGeom prst="rect">
            <a:avLst/>
          </a:prstGeom>
          <a:solidFill>
            <a:srgbClr val="0F2340"/>
          </a:solidFill>
          <a:ln w="254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035040" y="868680"/>
            <a:ext cx="2697480" cy="34747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035040" y="868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Bien structuré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298448"/>
            <a:ext cx="2514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fonctions modulaires, variables globales claires, code commenté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2761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E/S numériques &amp; analogiques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Communication I2C (LCD)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PWM : servomoteurs &amp; buzzer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8039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Filtrage numérique (lissage LDR)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151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Gestion du temps : millis()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498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Programmation événementielle embarquée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27614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Module Wi-Fi (ESP8266) → suivi mobile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Ecran OLED graphique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Lecteur RFID → accès par badge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8039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LEDs par place individuelle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151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Base de données des passages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Alimentation panneau solaire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0"/>
            <a:ext cx="109728" cy="109728"/>
          </a:xfrm>
          <a:prstGeom prst="ellipse">
            <a:avLst/>
          </a:prstGeom>
          <a:solidFill>
            <a:srgbClr val="00A8CC">
              <a:alpha val="6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554480" y="4663440"/>
            <a:ext cx="109728" cy="109728"/>
          </a:xfrm>
          <a:prstGeom prst="ellipse">
            <a:avLst/>
          </a:prstGeom>
          <a:solidFill>
            <a:srgbClr val="00A8CC">
              <a:alpha val="5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651760" y="4663440"/>
            <a:ext cx="109728" cy="109728"/>
          </a:xfrm>
          <a:prstGeom prst="ellipse">
            <a:avLst/>
          </a:prstGeom>
          <a:solidFill>
            <a:srgbClr val="00A8CC">
              <a:alpha val="5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749040" y="4663440"/>
            <a:ext cx="109728" cy="109728"/>
          </a:xfrm>
          <a:prstGeom prst="ellipse">
            <a:avLst/>
          </a:prstGeom>
          <a:solidFill>
            <a:srgbClr val="00A8CC">
              <a:alpha val="4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846320" y="4663440"/>
            <a:ext cx="109728" cy="109728"/>
          </a:xfrm>
          <a:prstGeom prst="ellipse">
            <a:avLst/>
          </a:prstGeom>
          <a:solidFill>
            <a:srgbClr val="00A8CC">
              <a:alpha val="4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943600" y="4663440"/>
            <a:ext cx="109728" cy="109728"/>
          </a:xfrm>
          <a:prstGeom prst="ellipse">
            <a:avLst/>
          </a:prstGeom>
          <a:solidFill>
            <a:srgbClr val="00A8CC">
              <a:alpha val="3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040880" y="4663440"/>
            <a:ext cx="109728" cy="109728"/>
          </a:xfrm>
          <a:prstGeom prst="ellipse">
            <a:avLst/>
          </a:prstGeom>
          <a:solidFill>
            <a:srgbClr val="00A8CC">
              <a:alpha val="3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138160" y="4663440"/>
            <a:ext cx="109728" cy="109728"/>
          </a:xfrm>
          <a:prstGeom prst="ellipse">
            <a:avLst/>
          </a:prstGeom>
          <a:solidFill>
            <a:srgbClr val="00A8CC">
              <a:alpha val="2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657600" y="548640"/>
            <a:ext cx="1828800" cy="1828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2468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65760" y="3246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286000" y="3794760"/>
            <a:ext cx="4572000" cy="804672"/>
          </a:xfrm>
          <a:prstGeom prst="rect">
            <a:avLst/>
          </a:prstGeom>
          <a:solidFill>
            <a:srgbClr val="0F2340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2286000" y="379476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Saifalislam Moubarrad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2AP G4 · G41  |  EMSI Casablanca  |  2025-2026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936</Words>
  <Application>Microsoft Office PowerPoint</Application>
  <PresentationFormat>On-screen Show (16:9)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Intelligente d'un Parking - Arduino</dc:title>
  <dc:subject>PptxGenJS Presentation</dc:subject>
  <dc:creator>PptxGenJS</dc:creator>
  <cp:lastModifiedBy>Saifalislam Moubarrad</cp:lastModifiedBy>
  <cp:revision>5</cp:revision>
  <dcterms:created xsi:type="dcterms:W3CDTF">2026-05-16T10:37:44Z</dcterms:created>
  <dcterms:modified xsi:type="dcterms:W3CDTF">2026-05-18T10:11:31Z</dcterms:modified>
</cp:coreProperties>
</file>